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Agrandir Bold" charset="1" panose="00000800000000000000"/>
      <p:regular r:id="rId24"/>
    </p:embeddedFont>
    <p:embeddedFont>
      <p:font typeface="Agrandir" charset="1" panose="00000500000000000000"/>
      <p:regular r:id="rId25"/>
    </p:embeddedFont>
    <p:embeddedFont>
      <p:font typeface="Canva Sans Bold" charset="1" panose="020B0803030501040103"/>
      <p:regular r:id="rId26"/>
    </p:embeddedFont>
    <p:embeddedFont>
      <p:font typeface="Agrandir Grand Heavy" charset="1" panose="00000A07000000000000"/>
      <p:regular r:id="rId27"/>
    </p:embeddedFont>
    <p:embeddedFont>
      <p:font typeface="Palm Club" charset="1" panose="00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6994" y="-3259468"/>
            <a:ext cx="10474737" cy="14625104"/>
          </a:xfrm>
          <a:custGeom>
            <a:avLst/>
            <a:gdLst/>
            <a:ahLst/>
            <a:cxnLst/>
            <a:rect r="r" b="b" t="t" l="l"/>
            <a:pathLst>
              <a:path h="14625104" w="10474737">
                <a:moveTo>
                  <a:pt x="0" y="0"/>
                </a:moveTo>
                <a:lnTo>
                  <a:pt x="10474737" y="0"/>
                </a:lnTo>
                <a:lnTo>
                  <a:pt x="10474737" y="14625104"/>
                </a:lnTo>
                <a:lnTo>
                  <a:pt x="0" y="146251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812437" y="1527092"/>
            <a:ext cx="4663126" cy="587121"/>
            <a:chOff x="0" y="0"/>
            <a:chExt cx="1228148" cy="154633"/>
          </a:xfrm>
        </p:grpSpPr>
        <p:sp>
          <p:nvSpPr>
            <p:cNvPr name="Freeform 4" id="4"/>
            <p:cNvSpPr/>
            <p:nvPr/>
          </p:nvSpPr>
          <p:spPr>
            <a:xfrm flipH="false" flipV="false" rot="0">
              <a:off x="0" y="0"/>
              <a:ext cx="1228148" cy="154633"/>
            </a:xfrm>
            <a:custGeom>
              <a:avLst/>
              <a:gdLst/>
              <a:ahLst/>
              <a:cxnLst/>
              <a:rect r="r" b="b" t="t" l="l"/>
              <a:pathLst>
                <a:path h="154633" w="1228148">
                  <a:moveTo>
                    <a:pt x="77316" y="0"/>
                  </a:moveTo>
                  <a:lnTo>
                    <a:pt x="1150832" y="0"/>
                  </a:lnTo>
                  <a:cubicBezTo>
                    <a:pt x="1193533" y="0"/>
                    <a:pt x="1228148" y="34616"/>
                    <a:pt x="1228148" y="77316"/>
                  </a:cubicBezTo>
                  <a:lnTo>
                    <a:pt x="1228148" y="77316"/>
                  </a:lnTo>
                  <a:cubicBezTo>
                    <a:pt x="1228148" y="120017"/>
                    <a:pt x="1193533" y="154633"/>
                    <a:pt x="1150832" y="154633"/>
                  </a:cubicBezTo>
                  <a:lnTo>
                    <a:pt x="77316" y="154633"/>
                  </a:lnTo>
                  <a:cubicBezTo>
                    <a:pt x="34616" y="154633"/>
                    <a:pt x="0" y="120017"/>
                    <a:pt x="0" y="77316"/>
                  </a:cubicBezTo>
                  <a:lnTo>
                    <a:pt x="0" y="77316"/>
                  </a:lnTo>
                  <a:cubicBezTo>
                    <a:pt x="0" y="34616"/>
                    <a:pt x="34616" y="0"/>
                    <a:pt x="77316" y="0"/>
                  </a:cubicBezTo>
                  <a:close/>
                </a:path>
              </a:pathLst>
            </a:custGeom>
            <a:solidFill>
              <a:srgbClr val="000000">
                <a:alpha val="0"/>
              </a:srgbClr>
            </a:solidFill>
            <a:ln w="19050" cap="rnd">
              <a:solidFill>
                <a:srgbClr val="E9480D"/>
              </a:solidFill>
              <a:prstDash val="solid"/>
              <a:round/>
            </a:ln>
          </p:spPr>
        </p:sp>
        <p:sp>
          <p:nvSpPr>
            <p:cNvPr name="TextBox 5" id="5"/>
            <p:cNvSpPr txBox="true"/>
            <p:nvPr/>
          </p:nvSpPr>
          <p:spPr>
            <a:xfrm>
              <a:off x="0" y="-85725"/>
              <a:ext cx="1228148" cy="24035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779700" y="2117726"/>
            <a:ext cx="12728600" cy="3025774"/>
          </a:xfrm>
          <a:prstGeom prst="rect">
            <a:avLst/>
          </a:prstGeom>
        </p:spPr>
        <p:txBody>
          <a:bodyPr anchor="t" rtlCol="false" tIns="0" lIns="0" bIns="0" rIns="0">
            <a:spAutoFit/>
          </a:bodyPr>
          <a:lstStyle/>
          <a:p>
            <a:pPr algn="ctr">
              <a:lnSpc>
                <a:spcPts val="11200"/>
              </a:lnSpc>
            </a:pPr>
            <a:r>
              <a:rPr lang="en-US" b="true" sz="8000">
                <a:solidFill>
                  <a:srgbClr val="242424"/>
                </a:solidFill>
                <a:latin typeface="Agrandir Bold"/>
                <a:ea typeface="Agrandir Bold"/>
                <a:cs typeface="Agrandir Bold"/>
                <a:sym typeface="Agrandir Bold"/>
              </a:rPr>
              <a:t>HỆ THỐNG KHUYẾN NGHỊ MUA HÀNG</a:t>
            </a:r>
          </a:p>
        </p:txBody>
      </p:sp>
      <p:sp>
        <p:nvSpPr>
          <p:cNvPr name="TextBox 7" id="7"/>
          <p:cNvSpPr txBox="true"/>
          <p:nvPr/>
        </p:nvSpPr>
        <p:spPr>
          <a:xfrm rot="0">
            <a:off x="5510302" y="6124575"/>
            <a:ext cx="7267395" cy="623570"/>
          </a:xfrm>
          <a:prstGeom prst="rect">
            <a:avLst/>
          </a:prstGeom>
        </p:spPr>
        <p:txBody>
          <a:bodyPr anchor="t" rtlCol="false" tIns="0" lIns="0" bIns="0" rIns="0">
            <a:spAutoFit/>
          </a:bodyPr>
          <a:lstStyle/>
          <a:p>
            <a:pPr algn="ctr">
              <a:lnSpc>
                <a:spcPts val="4480"/>
              </a:lnSpc>
            </a:pPr>
            <a:r>
              <a:rPr lang="en-US" sz="3200" b="true">
                <a:solidFill>
                  <a:srgbClr val="E9480D"/>
                </a:solidFill>
                <a:latin typeface="Agrandir Bold"/>
                <a:ea typeface="Agrandir Bold"/>
                <a:cs typeface="Agrandir Bold"/>
                <a:sym typeface="Agrandir Bold"/>
              </a:rPr>
              <a:t>GVHD: TS.Nguyễn Vinh Tiệp</a:t>
            </a:r>
          </a:p>
        </p:txBody>
      </p:sp>
      <p:sp>
        <p:nvSpPr>
          <p:cNvPr name="TextBox 8" id="8"/>
          <p:cNvSpPr txBox="true"/>
          <p:nvPr/>
        </p:nvSpPr>
        <p:spPr>
          <a:xfrm rot="0">
            <a:off x="7349237" y="1517618"/>
            <a:ext cx="3589526" cy="482244"/>
          </a:xfrm>
          <a:prstGeom prst="rect">
            <a:avLst/>
          </a:prstGeom>
        </p:spPr>
        <p:txBody>
          <a:bodyPr anchor="t" rtlCol="false" tIns="0" lIns="0" bIns="0" rIns="0">
            <a:spAutoFit/>
          </a:bodyPr>
          <a:lstStyle/>
          <a:p>
            <a:pPr algn="ctr">
              <a:lnSpc>
                <a:spcPts val="3344"/>
              </a:lnSpc>
            </a:pPr>
            <a:r>
              <a:rPr lang="en-US" sz="2389">
                <a:solidFill>
                  <a:srgbClr val="E9480D"/>
                </a:solidFill>
                <a:latin typeface="Agrandir"/>
                <a:ea typeface="Agrandir"/>
                <a:cs typeface="Agrandir"/>
                <a:sym typeface="Agrandir"/>
              </a:rPr>
              <a:t>Báo Cáo Cuối Kỳ</a:t>
            </a:r>
          </a:p>
        </p:txBody>
      </p:sp>
      <p:sp>
        <p:nvSpPr>
          <p:cNvPr name="Freeform 9" id="9"/>
          <p:cNvSpPr/>
          <p:nvPr/>
        </p:nvSpPr>
        <p:spPr>
          <a:xfrm flipH="false" flipV="false" rot="0">
            <a:off x="10938763" y="1660314"/>
            <a:ext cx="320676" cy="320676"/>
          </a:xfrm>
          <a:custGeom>
            <a:avLst/>
            <a:gdLst/>
            <a:ahLst/>
            <a:cxnLst/>
            <a:rect r="r" b="b" t="t" l="l"/>
            <a:pathLst>
              <a:path h="320676" w="320676">
                <a:moveTo>
                  <a:pt x="0" y="0"/>
                </a:moveTo>
                <a:lnTo>
                  <a:pt x="320676" y="0"/>
                </a:lnTo>
                <a:lnTo>
                  <a:pt x="320676" y="320676"/>
                </a:lnTo>
                <a:lnTo>
                  <a:pt x="0" y="3206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7028561" y="1660314"/>
            <a:ext cx="320676" cy="320676"/>
          </a:xfrm>
          <a:custGeom>
            <a:avLst/>
            <a:gdLst/>
            <a:ahLst/>
            <a:cxnLst/>
            <a:rect r="r" b="b" t="t" l="l"/>
            <a:pathLst>
              <a:path h="320676" w="320676">
                <a:moveTo>
                  <a:pt x="0" y="0"/>
                </a:moveTo>
                <a:lnTo>
                  <a:pt x="320676" y="0"/>
                </a:lnTo>
                <a:lnTo>
                  <a:pt x="320676" y="320676"/>
                </a:lnTo>
                <a:lnTo>
                  <a:pt x="0" y="3206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5402104" y="7119620"/>
            <a:ext cx="7483791" cy="1628775"/>
          </a:xfrm>
          <a:prstGeom prst="rect">
            <a:avLst/>
          </a:prstGeom>
        </p:spPr>
        <p:txBody>
          <a:bodyPr anchor="t" rtlCol="false" tIns="0" lIns="0" bIns="0" rIns="0">
            <a:spAutoFit/>
          </a:bodyPr>
          <a:lstStyle/>
          <a:p>
            <a:pPr algn="ctr">
              <a:lnSpc>
                <a:spcPts val="4199"/>
              </a:lnSpc>
            </a:pPr>
            <a:r>
              <a:rPr lang="en-US" sz="2999">
                <a:solidFill>
                  <a:srgbClr val="000000"/>
                </a:solidFill>
                <a:latin typeface="Agrandir"/>
                <a:ea typeface="Agrandir"/>
                <a:cs typeface="Agrandir"/>
                <a:sym typeface="Agrandir"/>
              </a:rPr>
              <a:t>Lê Đức Thành - 23522441</a:t>
            </a:r>
          </a:p>
          <a:p>
            <a:pPr algn="ctr">
              <a:lnSpc>
                <a:spcPts val="4199"/>
              </a:lnSpc>
            </a:pPr>
            <a:r>
              <a:rPr lang="en-US" sz="2999">
                <a:solidFill>
                  <a:srgbClr val="000000"/>
                </a:solidFill>
                <a:latin typeface="Agrandir"/>
                <a:ea typeface="Agrandir"/>
                <a:cs typeface="Agrandir"/>
                <a:sym typeface="Agrandir"/>
              </a:rPr>
              <a:t>Nguyễn Ngọc Thanh Phương - 23521245</a:t>
            </a:r>
          </a:p>
          <a:p>
            <a:pPr algn="ctr">
              <a:lnSpc>
                <a:spcPts val="4199"/>
              </a:lnSpc>
            </a:pPr>
            <a:r>
              <a:rPr lang="en-US" sz="2999">
                <a:solidFill>
                  <a:srgbClr val="000000"/>
                </a:solidFill>
                <a:latin typeface="Agrandir"/>
                <a:ea typeface="Agrandir"/>
                <a:cs typeface="Agrandir"/>
                <a:sym typeface="Agrandir"/>
              </a:rPr>
              <a:t>Trần Ngọc Cẩm Nguyên - 23521061</a:t>
            </a:r>
          </a:p>
        </p:txBody>
      </p:sp>
      <p:sp>
        <p:nvSpPr>
          <p:cNvPr name="TextBox 12" id="12"/>
          <p:cNvSpPr txBox="true"/>
          <p:nvPr/>
        </p:nvSpPr>
        <p:spPr>
          <a:xfrm rot="0">
            <a:off x="7535448" y="1036568"/>
            <a:ext cx="3217104" cy="396875"/>
          </a:xfrm>
          <a:prstGeom prst="rect">
            <a:avLst/>
          </a:prstGeom>
        </p:spPr>
        <p:txBody>
          <a:bodyPr anchor="t" rtlCol="false" tIns="0" lIns="0" bIns="0" rIns="0">
            <a:spAutoFit/>
          </a:bodyPr>
          <a:lstStyle/>
          <a:p>
            <a:pPr algn="ctr">
              <a:lnSpc>
                <a:spcPts val="2799"/>
              </a:lnSpc>
            </a:pPr>
            <a:r>
              <a:rPr lang="en-US" sz="1999">
                <a:solidFill>
                  <a:srgbClr val="000000"/>
                </a:solidFill>
                <a:latin typeface="Agrandir"/>
                <a:ea typeface="Agrandir"/>
                <a:cs typeface="Agrandir"/>
                <a:sym typeface="Agrandir"/>
              </a:rPr>
              <a:t>CS116.Q11</a:t>
            </a:r>
          </a:p>
        </p:txBody>
      </p:sp>
      <p:sp>
        <p:nvSpPr>
          <p:cNvPr name="TextBox 13" id="13"/>
          <p:cNvSpPr txBox="true"/>
          <p:nvPr/>
        </p:nvSpPr>
        <p:spPr>
          <a:xfrm rot="0">
            <a:off x="7721659" y="5172075"/>
            <a:ext cx="3217104" cy="488951"/>
          </a:xfrm>
          <a:prstGeom prst="rect">
            <a:avLst/>
          </a:prstGeom>
        </p:spPr>
        <p:txBody>
          <a:bodyPr anchor="t" rtlCol="false" tIns="0" lIns="0" bIns="0" rIns="0">
            <a:spAutoFit/>
          </a:bodyPr>
          <a:lstStyle/>
          <a:p>
            <a:pPr algn="ctr">
              <a:lnSpc>
                <a:spcPts val="3499"/>
              </a:lnSpc>
            </a:pPr>
            <a:r>
              <a:rPr lang="en-US" b="true" sz="2499">
                <a:solidFill>
                  <a:srgbClr val="616161"/>
                </a:solidFill>
                <a:latin typeface="Agrandir Bold"/>
                <a:ea typeface="Agrandir Bold"/>
                <a:cs typeface="Agrandir Bold"/>
                <a:sym typeface="Agrandir Bold"/>
              </a:rPr>
              <a:t>NHÓM 4</a:t>
            </a: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Freeform 3" id="3"/>
          <p:cNvSpPr/>
          <p:nvPr/>
        </p:nvSpPr>
        <p:spPr>
          <a:xfrm flipH="false" flipV="false" rot="0">
            <a:off x="738306" y="3233961"/>
            <a:ext cx="16811388" cy="4631387"/>
          </a:xfrm>
          <a:custGeom>
            <a:avLst/>
            <a:gdLst/>
            <a:ahLst/>
            <a:cxnLst/>
            <a:rect r="r" b="b" t="t" l="l"/>
            <a:pathLst>
              <a:path h="4631387" w="16811388">
                <a:moveTo>
                  <a:pt x="0" y="0"/>
                </a:moveTo>
                <a:lnTo>
                  <a:pt x="16811388" y="0"/>
                </a:lnTo>
                <a:lnTo>
                  <a:pt x="16811388" y="4631386"/>
                </a:lnTo>
                <a:lnTo>
                  <a:pt x="0" y="4631386"/>
                </a:lnTo>
                <a:lnTo>
                  <a:pt x="0" y="0"/>
                </a:lnTo>
                <a:close/>
              </a:path>
            </a:pathLst>
          </a:custGeom>
          <a:blipFill>
            <a:blip r:embed="rId2"/>
            <a:stretch>
              <a:fillRect l="-1412" t="-56788" r="-1294" b="-52920"/>
            </a:stretch>
          </a:blipFill>
        </p:spPr>
      </p:sp>
      <p:sp>
        <p:nvSpPr>
          <p:cNvPr name="TextBox 4" id="4"/>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MÔ HÌNH</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2</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TextBox 3" id="3"/>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CÁC ĐẶC TRƯNG SỬ DỤNG</a:t>
            </a:r>
          </a:p>
        </p:txBody>
      </p:sp>
      <p:sp>
        <p:nvSpPr>
          <p:cNvPr name="TextBox 4" id="4"/>
          <p:cNvSpPr txBox="true"/>
          <p:nvPr/>
        </p:nvSpPr>
        <p:spPr>
          <a:xfrm rot="0">
            <a:off x="1028700" y="2188756"/>
            <a:ext cx="16230600" cy="6753225"/>
          </a:xfrm>
          <a:prstGeom prst="rect">
            <a:avLst/>
          </a:prstGeom>
        </p:spPr>
        <p:txBody>
          <a:bodyPr anchor="t" rtlCol="false" tIns="0" lIns="0" bIns="0" rIns="0">
            <a:spAutoFit/>
          </a:bodyPr>
          <a:lstStyle/>
          <a:p>
            <a:pPr algn="l">
              <a:lnSpc>
                <a:spcPts val="4800"/>
              </a:lnSpc>
            </a:pPr>
            <a:r>
              <a:rPr lang="en-US" sz="3000" b="true">
                <a:solidFill>
                  <a:srgbClr val="000000"/>
                </a:solidFill>
                <a:latin typeface="Agrandir Bold"/>
                <a:ea typeface="Agrandir Bold"/>
                <a:cs typeface="Agrandir Bold"/>
                <a:sym typeface="Agrandir Bold"/>
              </a:rPr>
              <a:t>Đặc trưng về hành vi mua sắm:</a:t>
            </a:r>
          </a:p>
          <a:p>
            <a:pPr algn="l" marL="647700" indent="-323850" lvl="1">
              <a:lnSpc>
                <a:spcPts val="4800"/>
              </a:lnSpc>
              <a:buFont typeface="Arial"/>
              <a:buChar char="•"/>
            </a:pPr>
            <a:r>
              <a:rPr lang="en-US" sz="3000">
                <a:solidFill>
                  <a:srgbClr val="000000"/>
                </a:solidFill>
                <a:latin typeface="Agrandir"/>
                <a:ea typeface="Agrandir"/>
                <a:cs typeface="Agrandir"/>
                <a:sym typeface="Agrandir"/>
              </a:rPr>
              <a:t>Số lần người dùng đã mua thương hiệu (brand) của sản phẩm.</a:t>
            </a:r>
          </a:p>
          <a:p>
            <a:pPr algn="l" marL="647700" indent="-323850" lvl="1">
              <a:lnSpc>
                <a:spcPts val="4800"/>
              </a:lnSpc>
              <a:buFont typeface="Arial"/>
              <a:buChar char="•"/>
            </a:pPr>
            <a:r>
              <a:rPr lang="en-US" sz="3000">
                <a:solidFill>
                  <a:srgbClr val="000000"/>
                </a:solidFill>
                <a:latin typeface="Agrandir"/>
                <a:ea typeface="Agrandir"/>
                <a:cs typeface="Agrandir"/>
                <a:sym typeface="Agrandir"/>
              </a:rPr>
              <a:t>Số lần người dùng đã mua sản phẩm thuộc cùng nhóm danh mục (category).</a:t>
            </a:r>
          </a:p>
          <a:p>
            <a:pPr algn="l">
              <a:lnSpc>
                <a:spcPts val="4800"/>
              </a:lnSpc>
            </a:pPr>
            <a:r>
              <a:rPr lang="en-US" sz="3000" b="true">
                <a:solidFill>
                  <a:srgbClr val="000000"/>
                </a:solidFill>
                <a:latin typeface="Agrandir Bold"/>
                <a:ea typeface="Agrandir Bold"/>
                <a:cs typeface="Agrandir Bold"/>
                <a:sym typeface="Agrandir Bold"/>
              </a:rPr>
              <a:t>Đặc trưng về tính thời gian:</a:t>
            </a:r>
          </a:p>
          <a:p>
            <a:pPr algn="l" marL="647700" indent="-323850" lvl="1">
              <a:lnSpc>
                <a:spcPts val="4800"/>
              </a:lnSpc>
              <a:buFont typeface="Arial"/>
              <a:buChar char="•"/>
            </a:pPr>
            <a:r>
              <a:rPr lang="en-US" sz="3000">
                <a:solidFill>
                  <a:srgbClr val="000000"/>
                </a:solidFill>
                <a:latin typeface="Agrandir"/>
                <a:ea typeface="Agrandir"/>
                <a:cs typeface="Agrandir"/>
                <a:sym typeface="Agrandir"/>
              </a:rPr>
              <a:t>Số ngày kể từ lần gần nhất người dùng mua sản phẩm thuộc cùng danh mục</a:t>
            </a:r>
          </a:p>
          <a:p>
            <a:pPr algn="l">
              <a:lnSpc>
                <a:spcPts val="4800"/>
              </a:lnSpc>
            </a:pPr>
            <a:r>
              <a:rPr lang="en-US" sz="3000" b="true">
                <a:solidFill>
                  <a:srgbClr val="000000"/>
                </a:solidFill>
                <a:latin typeface="Agrandir Bold"/>
                <a:ea typeface="Agrandir Bold"/>
                <a:cs typeface="Agrandir Bold"/>
                <a:sym typeface="Agrandir Bold"/>
              </a:rPr>
              <a:t>Đặc trưng về thói quen và độ trung thành mua sắm:</a:t>
            </a:r>
          </a:p>
          <a:p>
            <a:pPr algn="l" marL="647700" indent="-323850" lvl="1">
              <a:lnSpc>
                <a:spcPts val="4800"/>
              </a:lnSpc>
              <a:buFont typeface="Arial"/>
              <a:buChar char="•"/>
            </a:pPr>
            <a:r>
              <a:rPr lang="en-US" sz="3000">
                <a:solidFill>
                  <a:srgbClr val="000000"/>
                </a:solidFill>
                <a:latin typeface="Agrandir"/>
                <a:ea typeface="Agrandir"/>
                <a:cs typeface="Agrandir"/>
                <a:sym typeface="Agrandir"/>
              </a:rPr>
              <a:t>Tỷ lệ đơn hàng người dùng dành cho thương hiệu của sản phẩm</a:t>
            </a:r>
          </a:p>
          <a:p>
            <a:pPr algn="l" marL="647700" indent="-323850" lvl="1">
              <a:lnSpc>
                <a:spcPts val="4800"/>
              </a:lnSpc>
              <a:buFont typeface="Arial"/>
              <a:buChar char="•"/>
            </a:pPr>
            <a:r>
              <a:rPr lang="en-US" sz="3000">
                <a:solidFill>
                  <a:srgbClr val="000000"/>
                </a:solidFill>
                <a:latin typeface="Agrandir"/>
                <a:ea typeface="Agrandir"/>
                <a:cs typeface="Agrandir"/>
                <a:sym typeface="Agrandir"/>
              </a:rPr>
              <a:t>Tỷ lệ giữa giá sản phẩm và mức giá trung bình người dùng thường mua</a:t>
            </a:r>
          </a:p>
          <a:p>
            <a:pPr algn="l">
              <a:lnSpc>
                <a:spcPts val="4800"/>
              </a:lnSpc>
            </a:pPr>
            <a:r>
              <a:rPr lang="en-US" sz="3000" b="true">
                <a:solidFill>
                  <a:srgbClr val="000000"/>
                </a:solidFill>
                <a:latin typeface="Agrandir Bold"/>
                <a:ea typeface="Agrandir Bold"/>
                <a:cs typeface="Agrandir Bold"/>
                <a:sym typeface="Agrandir Bold"/>
              </a:rPr>
              <a:t>Đặc trưng ngữ cảnh liên quan đến độ tuổi của bé:</a:t>
            </a:r>
          </a:p>
          <a:p>
            <a:pPr algn="l" marL="647700" indent="-323850" lvl="1">
              <a:lnSpc>
                <a:spcPts val="4800"/>
              </a:lnSpc>
              <a:buFont typeface="Arial"/>
              <a:buChar char="•"/>
            </a:pPr>
            <a:r>
              <a:rPr lang="en-US" sz="3000">
                <a:solidFill>
                  <a:srgbClr val="000000"/>
                </a:solidFill>
                <a:latin typeface="Agrandir"/>
                <a:ea typeface="Agrandir"/>
                <a:cs typeface="Agrandir"/>
                <a:sym typeface="Agrandir"/>
              </a:rPr>
              <a:t>Tuổi dự đoán của bé (theo tháng)</a:t>
            </a:r>
          </a:p>
          <a:p>
            <a:pPr algn="l" marL="647700" indent="-323850" lvl="1">
              <a:lnSpc>
                <a:spcPts val="4800"/>
              </a:lnSpc>
              <a:buFont typeface="Arial"/>
              <a:buChar char="•"/>
            </a:pPr>
            <a:r>
              <a:rPr lang="en-US" sz="3000">
                <a:solidFill>
                  <a:srgbClr val="000000"/>
                </a:solidFill>
                <a:latin typeface="Agrandir"/>
                <a:ea typeface="Agrandir"/>
                <a:cs typeface="Agrandir"/>
                <a:sym typeface="Agrandir"/>
              </a:rPr>
              <a:t>Sản phẩm phù hợp với độ tuổi nào của em bé</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3</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TextBox 3" id="3"/>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TextBox 4" id="4"/>
          <p:cNvSpPr txBox="true"/>
          <p:nvPr/>
        </p:nvSpPr>
        <p:spPr>
          <a:xfrm rot="0">
            <a:off x="1028700" y="2188756"/>
            <a:ext cx="16230600" cy="1876425"/>
          </a:xfrm>
          <a:prstGeom prst="rect">
            <a:avLst/>
          </a:prstGeom>
        </p:spPr>
        <p:txBody>
          <a:bodyPr anchor="t" rtlCol="false" tIns="0" lIns="0" bIns="0" rIns="0">
            <a:spAutoFit/>
          </a:bodyPr>
          <a:lstStyle/>
          <a:p>
            <a:pPr algn="l">
              <a:lnSpc>
                <a:spcPts val="4800"/>
              </a:lnSpc>
            </a:pPr>
            <a:r>
              <a:rPr lang="en-US" sz="3000">
                <a:solidFill>
                  <a:srgbClr val="000000"/>
                </a:solidFill>
                <a:latin typeface="Agrandir"/>
                <a:ea typeface="Agrandir"/>
                <a:cs typeface="Agrandir"/>
                <a:sym typeface="Agrandir"/>
              </a:rPr>
              <a:t>Kết quả thu được (Precision@k, k = 10) trên tập groundtruth tháng 2/2025:</a:t>
            </a:r>
          </a:p>
          <a:p>
            <a:pPr algn="l" marL="647700" indent="-323850" lvl="1">
              <a:lnSpc>
                <a:spcPts val="4800"/>
              </a:lnSpc>
              <a:buFont typeface="Arial"/>
              <a:buChar char="•"/>
            </a:pPr>
            <a:r>
              <a:rPr lang="en-US" sz="3000">
                <a:solidFill>
                  <a:srgbClr val="000000"/>
                </a:solidFill>
                <a:latin typeface="Agrandir"/>
                <a:ea typeface="Agrandir"/>
                <a:cs typeface="Agrandir"/>
                <a:sym typeface="Agrandir"/>
              </a:rPr>
              <a:t>UNFILTERED Item: </a:t>
            </a:r>
            <a:r>
              <a:rPr lang="en-US" b="true" sz="3000">
                <a:solidFill>
                  <a:srgbClr val="000000"/>
                </a:solidFill>
                <a:latin typeface="Agrandir Bold"/>
                <a:ea typeface="Agrandir Bold"/>
                <a:cs typeface="Agrandir Bold"/>
                <a:sym typeface="Agrandir Bold"/>
              </a:rPr>
              <a:t>6.83%</a:t>
            </a:r>
          </a:p>
          <a:p>
            <a:pPr algn="l" marL="647700" indent="-323850" lvl="1">
              <a:lnSpc>
                <a:spcPts val="4800"/>
              </a:lnSpc>
              <a:buFont typeface="Arial"/>
              <a:buChar char="•"/>
            </a:pPr>
            <a:r>
              <a:rPr lang="en-US" sz="3000">
                <a:solidFill>
                  <a:srgbClr val="000000"/>
                </a:solidFill>
                <a:latin typeface="Agrandir"/>
                <a:ea typeface="Agrandir"/>
                <a:cs typeface="Agrandir"/>
                <a:sym typeface="Agrandir"/>
              </a:rPr>
              <a:t>FILTERED Item: </a:t>
            </a:r>
            <a:r>
              <a:rPr lang="en-US" b="true" sz="3000">
                <a:solidFill>
                  <a:srgbClr val="000000"/>
                </a:solidFill>
                <a:latin typeface="Agrandir Bold"/>
                <a:ea typeface="Agrandir Bold"/>
                <a:cs typeface="Agrandir Bold"/>
                <a:sym typeface="Agrandir Bold"/>
              </a:rPr>
              <a:t>1.84%</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4</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TextBox 3" id="3"/>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TextBox 4" id="4"/>
          <p:cNvSpPr txBox="true"/>
          <p:nvPr/>
        </p:nvSpPr>
        <p:spPr>
          <a:xfrm rot="0">
            <a:off x="1028700" y="4399915"/>
            <a:ext cx="16230600" cy="1065533"/>
          </a:xfrm>
          <a:prstGeom prst="rect">
            <a:avLst/>
          </a:prstGeom>
        </p:spPr>
        <p:txBody>
          <a:bodyPr anchor="t" rtlCol="false" tIns="0" lIns="0" bIns="0" rIns="0">
            <a:spAutoFit/>
          </a:bodyPr>
          <a:lstStyle/>
          <a:p>
            <a:pPr algn="ctr">
              <a:lnSpc>
                <a:spcPts val="7839"/>
              </a:lnSpc>
            </a:pPr>
            <a:r>
              <a:rPr lang="en-US" b="true" sz="4899">
                <a:solidFill>
                  <a:srgbClr val="E9480D"/>
                </a:solidFill>
                <a:latin typeface="Agrandir Bold"/>
                <a:ea typeface="Agrandir Bold"/>
                <a:cs typeface="Agrandir Bold"/>
                <a:sym typeface="Agrandir Bold"/>
              </a:rPr>
              <a:t>Phân tích các trường hợp tốt</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Freeform 3" id="3"/>
          <p:cNvSpPr/>
          <p:nvPr/>
        </p:nvSpPr>
        <p:spPr>
          <a:xfrm flipH="false" flipV="false" rot="0">
            <a:off x="1028700" y="1941528"/>
            <a:ext cx="16230600" cy="7851553"/>
          </a:xfrm>
          <a:custGeom>
            <a:avLst/>
            <a:gdLst/>
            <a:ahLst/>
            <a:cxnLst/>
            <a:rect r="r" b="b" t="t" l="l"/>
            <a:pathLst>
              <a:path h="7851553" w="16230600">
                <a:moveTo>
                  <a:pt x="0" y="0"/>
                </a:moveTo>
                <a:lnTo>
                  <a:pt x="16230600" y="0"/>
                </a:lnTo>
                <a:lnTo>
                  <a:pt x="16230600" y="7851552"/>
                </a:lnTo>
                <a:lnTo>
                  <a:pt x="0" y="7851552"/>
                </a:lnTo>
                <a:lnTo>
                  <a:pt x="0" y="0"/>
                </a:lnTo>
                <a:close/>
              </a:path>
            </a:pathLst>
          </a:custGeom>
          <a:blipFill>
            <a:blip r:embed="rId2"/>
            <a:stretch>
              <a:fillRect l="0" t="0" r="0" b="0"/>
            </a:stretch>
          </a:blipFill>
        </p:spPr>
      </p:sp>
      <p:sp>
        <p:nvSpPr>
          <p:cNvPr name="TextBox 4" id="4"/>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Freeform 3" id="3"/>
          <p:cNvSpPr/>
          <p:nvPr/>
        </p:nvSpPr>
        <p:spPr>
          <a:xfrm flipH="false" flipV="false" rot="0">
            <a:off x="1028700" y="2635714"/>
            <a:ext cx="9221323" cy="5356850"/>
          </a:xfrm>
          <a:custGeom>
            <a:avLst/>
            <a:gdLst/>
            <a:ahLst/>
            <a:cxnLst/>
            <a:rect r="r" b="b" t="t" l="l"/>
            <a:pathLst>
              <a:path h="5356850" w="9221323">
                <a:moveTo>
                  <a:pt x="0" y="0"/>
                </a:moveTo>
                <a:lnTo>
                  <a:pt x="9221323" y="0"/>
                </a:lnTo>
                <a:lnTo>
                  <a:pt x="9221323" y="5356851"/>
                </a:lnTo>
                <a:lnTo>
                  <a:pt x="0" y="5356851"/>
                </a:lnTo>
                <a:lnTo>
                  <a:pt x="0" y="0"/>
                </a:lnTo>
                <a:close/>
              </a:path>
            </a:pathLst>
          </a:custGeom>
          <a:blipFill>
            <a:blip r:embed="rId2"/>
            <a:stretch>
              <a:fillRect l="0" t="0" r="0" b="0"/>
            </a:stretch>
          </a:blipFill>
        </p:spPr>
      </p:sp>
      <p:sp>
        <p:nvSpPr>
          <p:cNvPr name="Freeform 4" id="4"/>
          <p:cNvSpPr/>
          <p:nvPr/>
        </p:nvSpPr>
        <p:spPr>
          <a:xfrm flipH="false" flipV="false" rot="0">
            <a:off x="10250023" y="2378207"/>
            <a:ext cx="7345132" cy="5871866"/>
          </a:xfrm>
          <a:custGeom>
            <a:avLst/>
            <a:gdLst/>
            <a:ahLst/>
            <a:cxnLst/>
            <a:rect r="r" b="b" t="t" l="l"/>
            <a:pathLst>
              <a:path h="5871866" w="7345132">
                <a:moveTo>
                  <a:pt x="0" y="0"/>
                </a:moveTo>
                <a:lnTo>
                  <a:pt x="7345132" y="0"/>
                </a:lnTo>
                <a:lnTo>
                  <a:pt x="7345132" y="5871865"/>
                </a:lnTo>
                <a:lnTo>
                  <a:pt x="0" y="5871865"/>
                </a:lnTo>
                <a:lnTo>
                  <a:pt x="0" y="0"/>
                </a:lnTo>
                <a:close/>
              </a:path>
            </a:pathLst>
          </a:custGeom>
          <a:blipFill>
            <a:blip r:embed="rId3"/>
            <a:stretch>
              <a:fillRect l="0" t="0" r="0" b="0"/>
            </a:stretch>
          </a:blipFill>
        </p:spPr>
      </p:sp>
      <p:sp>
        <p:nvSpPr>
          <p:cNvPr name="TextBox 5" id="5"/>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Freeform 3" id="3"/>
          <p:cNvSpPr/>
          <p:nvPr/>
        </p:nvSpPr>
        <p:spPr>
          <a:xfrm flipH="false" flipV="false" rot="0">
            <a:off x="1028700" y="2635714"/>
            <a:ext cx="9221323" cy="5356850"/>
          </a:xfrm>
          <a:custGeom>
            <a:avLst/>
            <a:gdLst/>
            <a:ahLst/>
            <a:cxnLst/>
            <a:rect r="r" b="b" t="t" l="l"/>
            <a:pathLst>
              <a:path h="5356850" w="9221323">
                <a:moveTo>
                  <a:pt x="0" y="0"/>
                </a:moveTo>
                <a:lnTo>
                  <a:pt x="9221323" y="0"/>
                </a:lnTo>
                <a:lnTo>
                  <a:pt x="9221323" y="5356851"/>
                </a:lnTo>
                <a:lnTo>
                  <a:pt x="0" y="5356851"/>
                </a:lnTo>
                <a:lnTo>
                  <a:pt x="0" y="0"/>
                </a:lnTo>
                <a:close/>
              </a:path>
            </a:pathLst>
          </a:custGeom>
          <a:blipFill>
            <a:blip r:embed="rId2"/>
            <a:stretch>
              <a:fillRect l="0" t="0" r="0" b="0"/>
            </a:stretch>
          </a:blipFill>
        </p:spPr>
      </p:sp>
      <p:sp>
        <p:nvSpPr>
          <p:cNvPr name="Freeform 4" id="4"/>
          <p:cNvSpPr/>
          <p:nvPr/>
        </p:nvSpPr>
        <p:spPr>
          <a:xfrm flipH="false" flipV="false" rot="0">
            <a:off x="10250023" y="2374923"/>
            <a:ext cx="7271526" cy="5878433"/>
          </a:xfrm>
          <a:custGeom>
            <a:avLst/>
            <a:gdLst/>
            <a:ahLst/>
            <a:cxnLst/>
            <a:rect r="r" b="b" t="t" l="l"/>
            <a:pathLst>
              <a:path h="5878433" w="7271526">
                <a:moveTo>
                  <a:pt x="0" y="0"/>
                </a:moveTo>
                <a:lnTo>
                  <a:pt x="7271526" y="0"/>
                </a:lnTo>
                <a:lnTo>
                  <a:pt x="7271526" y="5878433"/>
                </a:lnTo>
                <a:lnTo>
                  <a:pt x="0" y="5878433"/>
                </a:lnTo>
                <a:lnTo>
                  <a:pt x="0" y="0"/>
                </a:lnTo>
                <a:close/>
              </a:path>
            </a:pathLst>
          </a:custGeom>
          <a:blipFill>
            <a:blip r:embed="rId3"/>
            <a:stretch>
              <a:fillRect l="0" t="0" r="0" b="0"/>
            </a:stretch>
          </a:blipFill>
        </p:spPr>
      </p:sp>
      <p:sp>
        <p:nvSpPr>
          <p:cNvPr name="TextBox 5" id="5"/>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Freeform 3" id="3"/>
          <p:cNvSpPr/>
          <p:nvPr/>
        </p:nvSpPr>
        <p:spPr>
          <a:xfrm flipH="false" flipV="false" rot="0">
            <a:off x="1028700" y="2624042"/>
            <a:ext cx="16230600" cy="6634258"/>
          </a:xfrm>
          <a:custGeom>
            <a:avLst/>
            <a:gdLst/>
            <a:ahLst/>
            <a:cxnLst/>
            <a:rect r="r" b="b" t="t" l="l"/>
            <a:pathLst>
              <a:path h="6634258" w="16230600">
                <a:moveTo>
                  <a:pt x="0" y="0"/>
                </a:moveTo>
                <a:lnTo>
                  <a:pt x="16230600" y="0"/>
                </a:lnTo>
                <a:lnTo>
                  <a:pt x="16230600" y="6634258"/>
                </a:lnTo>
                <a:lnTo>
                  <a:pt x="0" y="6634258"/>
                </a:lnTo>
                <a:lnTo>
                  <a:pt x="0" y="0"/>
                </a:lnTo>
                <a:close/>
              </a:path>
            </a:pathLst>
          </a:custGeom>
          <a:blipFill>
            <a:blip r:embed="rId2"/>
            <a:stretch>
              <a:fillRect l="0" t="0" r="0" b="0"/>
            </a:stretch>
          </a:blipFill>
        </p:spPr>
      </p:sp>
      <p:sp>
        <p:nvSpPr>
          <p:cNvPr name="TextBox 4" id="4"/>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Freeform 5" id="5"/>
          <p:cNvSpPr/>
          <p:nvPr/>
        </p:nvSpPr>
        <p:spPr>
          <a:xfrm flipH="false" flipV="false" rot="0">
            <a:off x="5297275" y="1703403"/>
            <a:ext cx="11301259" cy="1252268"/>
          </a:xfrm>
          <a:custGeom>
            <a:avLst/>
            <a:gdLst/>
            <a:ahLst/>
            <a:cxnLst/>
            <a:rect r="r" b="b" t="t" l="l"/>
            <a:pathLst>
              <a:path h="1252268" w="11301259">
                <a:moveTo>
                  <a:pt x="0" y="0"/>
                </a:moveTo>
                <a:lnTo>
                  <a:pt x="11301259" y="0"/>
                </a:lnTo>
                <a:lnTo>
                  <a:pt x="11301259" y="1252268"/>
                </a:lnTo>
                <a:lnTo>
                  <a:pt x="0" y="1252268"/>
                </a:lnTo>
                <a:lnTo>
                  <a:pt x="0" y="0"/>
                </a:lnTo>
                <a:close/>
              </a:path>
            </a:pathLst>
          </a:custGeom>
          <a:blipFill>
            <a:blip r:embed="rId3"/>
            <a:stretch>
              <a:fillRect l="0" t="0" r="0" b="-11679"/>
            </a:stretch>
          </a:blipFill>
        </p:spPr>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Freeform 3" id="3"/>
          <p:cNvSpPr/>
          <p:nvPr/>
        </p:nvSpPr>
        <p:spPr>
          <a:xfrm flipH="false" flipV="false" rot="0">
            <a:off x="1028700" y="1941528"/>
            <a:ext cx="16230600" cy="7628382"/>
          </a:xfrm>
          <a:custGeom>
            <a:avLst/>
            <a:gdLst/>
            <a:ahLst/>
            <a:cxnLst/>
            <a:rect r="r" b="b" t="t" l="l"/>
            <a:pathLst>
              <a:path h="7628382" w="16230600">
                <a:moveTo>
                  <a:pt x="0" y="0"/>
                </a:moveTo>
                <a:lnTo>
                  <a:pt x="16230600" y="0"/>
                </a:lnTo>
                <a:lnTo>
                  <a:pt x="16230600" y="7628382"/>
                </a:lnTo>
                <a:lnTo>
                  <a:pt x="0" y="7628382"/>
                </a:lnTo>
                <a:lnTo>
                  <a:pt x="0" y="0"/>
                </a:lnTo>
                <a:close/>
              </a:path>
            </a:pathLst>
          </a:custGeom>
          <a:blipFill>
            <a:blip r:embed="rId2"/>
            <a:stretch>
              <a:fillRect l="0" t="0" r="0" b="0"/>
            </a:stretch>
          </a:blipFill>
        </p:spPr>
      </p:sp>
      <p:sp>
        <p:nvSpPr>
          <p:cNvPr name="TextBox 4" id="4"/>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10</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TextBox 3" id="3"/>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TextBox 4" id="4"/>
          <p:cNvSpPr txBox="true"/>
          <p:nvPr/>
        </p:nvSpPr>
        <p:spPr>
          <a:xfrm rot="0">
            <a:off x="1028700" y="2188756"/>
            <a:ext cx="16230600" cy="6753225"/>
          </a:xfrm>
          <a:prstGeom prst="rect">
            <a:avLst/>
          </a:prstGeom>
        </p:spPr>
        <p:txBody>
          <a:bodyPr anchor="t" rtlCol="false" tIns="0" lIns="0" bIns="0" rIns="0">
            <a:spAutoFit/>
          </a:bodyPr>
          <a:lstStyle/>
          <a:p>
            <a:pPr algn="l">
              <a:lnSpc>
                <a:spcPts val="4800"/>
              </a:lnSpc>
            </a:pPr>
            <a:r>
              <a:rPr lang="en-US" sz="3000" b="true">
                <a:solidFill>
                  <a:srgbClr val="E9480D"/>
                </a:solidFill>
                <a:latin typeface="Agrandir Bold"/>
                <a:ea typeface="Agrandir Bold"/>
                <a:cs typeface="Agrandir Bold"/>
                <a:sym typeface="Agrandir Bold"/>
              </a:rPr>
              <a:t>Trường hợp tốt:</a:t>
            </a:r>
          </a:p>
          <a:p>
            <a:pPr algn="l" marL="647700" indent="-323850" lvl="1">
              <a:lnSpc>
                <a:spcPts val="4800"/>
              </a:lnSpc>
              <a:buFont typeface="Arial"/>
              <a:buChar char="•"/>
            </a:pPr>
            <a:r>
              <a:rPr lang="en-US" sz="3000">
                <a:solidFill>
                  <a:srgbClr val="000000"/>
                </a:solidFill>
                <a:latin typeface="Agrandir"/>
                <a:ea typeface="Agrandir"/>
                <a:cs typeface="Agrandir"/>
                <a:sym typeface="Agrandir"/>
              </a:rPr>
              <a:t>Đối với các khách hàng đã có lịch sử giao dịch trong quá khứ (xét trong 4 tháng gần đây nhất) - </a:t>
            </a:r>
            <a:r>
              <a:rPr lang="en-US" b="true" sz="3000">
                <a:solidFill>
                  <a:srgbClr val="000000"/>
                </a:solidFill>
                <a:latin typeface="Agrandir Bold"/>
                <a:ea typeface="Agrandir Bold"/>
                <a:cs typeface="Agrandir Bold"/>
                <a:sym typeface="Agrandir Bold"/>
              </a:rPr>
              <a:t>Warm-start user</a:t>
            </a:r>
            <a:r>
              <a:rPr lang="en-US" sz="3000">
                <a:solidFill>
                  <a:srgbClr val="000000"/>
                </a:solidFill>
                <a:latin typeface="Agrandir"/>
                <a:ea typeface="Agrandir"/>
                <a:cs typeface="Agrandir"/>
                <a:sym typeface="Agrandir"/>
              </a:rPr>
              <a:t>:</a:t>
            </a:r>
          </a:p>
          <a:p>
            <a:pPr algn="l" marL="1295400" indent="-431800" lvl="2">
              <a:lnSpc>
                <a:spcPts val="4800"/>
              </a:lnSpc>
              <a:buFont typeface="Arial"/>
              <a:buChar char="⚬"/>
            </a:pPr>
            <a:r>
              <a:rPr lang="en-US" sz="3000">
                <a:solidFill>
                  <a:srgbClr val="000000"/>
                </a:solidFill>
                <a:latin typeface="Agrandir"/>
                <a:ea typeface="Agrandir"/>
                <a:cs typeface="Agrandir"/>
                <a:sym typeface="Agrandir"/>
              </a:rPr>
              <a:t>Những khách hàng mà có lịch sử giao dịch khá dày đặc thì mô hình sẽ dễ dàng học được và sinh candidates tốt hơn cho khách hàng.</a:t>
            </a:r>
          </a:p>
          <a:p>
            <a:pPr algn="l" marL="647700" indent="-323850" lvl="1">
              <a:lnSpc>
                <a:spcPts val="4800"/>
              </a:lnSpc>
              <a:buFont typeface="Arial"/>
              <a:buChar char="•"/>
            </a:pPr>
            <a:r>
              <a:rPr lang="en-US" sz="3000">
                <a:solidFill>
                  <a:srgbClr val="000000"/>
                </a:solidFill>
                <a:latin typeface="Agrandir"/>
                <a:ea typeface="Agrandir"/>
                <a:cs typeface="Agrandir"/>
                <a:sym typeface="Agrandir"/>
              </a:rPr>
              <a:t>Đối với các khách hàng chưa từng có lịch sử giao dịch trong quá khứ (xét trong 4 tháng gần đây nhất) - </a:t>
            </a:r>
            <a:r>
              <a:rPr lang="en-US" b="true" sz="3000">
                <a:solidFill>
                  <a:srgbClr val="000000"/>
                </a:solidFill>
                <a:latin typeface="Agrandir Bold"/>
                <a:ea typeface="Agrandir Bold"/>
                <a:cs typeface="Agrandir Bold"/>
                <a:sym typeface="Agrandir Bold"/>
              </a:rPr>
              <a:t>Cold-start user</a:t>
            </a:r>
            <a:r>
              <a:rPr lang="en-US" sz="3000">
                <a:solidFill>
                  <a:srgbClr val="000000"/>
                </a:solidFill>
                <a:latin typeface="Agrandir"/>
                <a:ea typeface="Agrandir"/>
                <a:cs typeface="Agrandir"/>
                <a:sym typeface="Agrandir"/>
              </a:rPr>
              <a:t>:</a:t>
            </a:r>
          </a:p>
          <a:p>
            <a:pPr algn="l" marL="1295400" indent="-431800" lvl="2">
              <a:lnSpc>
                <a:spcPts val="4800"/>
              </a:lnSpc>
              <a:buFont typeface="Arial"/>
              <a:buChar char="⚬"/>
            </a:pPr>
            <a:r>
              <a:rPr lang="en-US" sz="3000">
                <a:solidFill>
                  <a:srgbClr val="000000"/>
                </a:solidFill>
                <a:latin typeface="Agrandir"/>
                <a:ea typeface="Agrandir"/>
                <a:cs typeface="Agrandir"/>
                <a:sym typeface="Agrandir"/>
              </a:rPr>
              <a:t>Những khách hàng có xu hướng mua nhiều tháng tháng groundtruth thì kết quả dự đoán sẽ tốt hơn.</a:t>
            </a:r>
          </a:p>
          <a:p>
            <a:pPr algn="l" marL="1295400" indent="-431800" lvl="2">
              <a:lnSpc>
                <a:spcPts val="4800"/>
              </a:lnSpc>
              <a:buFont typeface="Arial"/>
              <a:buChar char="⚬"/>
            </a:pPr>
            <a:r>
              <a:rPr lang="en-US" sz="3000">
                <a:solidFill>
                  <a:srgbClr val="000000"/>
                </a:solidFill>
                <a:latin typeface="Agrandir"/>
                <a:ea typeface="Agrandir"/>
                <a:cs typeface="Agrandir"/>
                <a:sym typeface="Agrandir"/>
              </a:rPr>
              <a:t>Ngoài ra những item phổ biến dành cho cold-start của tháng trước tháng groundtruth cũng là yếu tố để khuyến nghị cho khách hàng của tháng groundtruth.</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11</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TextBox 3" id="3"/>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TextBox 4" id="4"/>
          <p:cNvSpPr txBox="true"/>
          <p:nvPr/>
        </p:nvSpPr>
        <p:spPr>
          <a:xfrm rot="0">
            <a:off x="1028700" y="4399915"/>
            <a:ext cx="16230600" cy="1065533"/>
          </a:xfrm>
          <a:prstGeom prst="rect">
            <a:avLst/>
          </a:prstGeom>
        </p:spPr>
        <p:txBody>
          <a:bodyPr anchor="t" rtlCol="false" tIns="0" lIns="0" bIns="0" rIns="0">
            <a:spAutoFit/>
          </a:bodyPr>
          <a:lstStyle/>
          <a:p>
            <a:pPr algn="ctr">
              <a:lnSpc>
                <a:spcPts val="7839"/>
              </a:lnSpc>
            </a:pPr>
            <a:r>
              <a:rPr lang="en-US" b="true" sz="4899">
                <a:solidFill>
                  <a:srgbClr val="E9480D"/>
                </a:solidFill>
                <a:latin typeface="Agrandir Bold"/>
                <a:ea typeface="Agrandir Bold"/>
                <a:cs typeface="Agrandir Bold"/>
                <a:sym typeface="Agrandir Bold"/>
              </a:rPr>
              <a:t>Phân tích các trường hợp xấu</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Freeform 3" id="3"/>
          <p:cNvSpPr/>
          <p:nvPr/>
        </p:nvSpPr>
        <p:spPr>
          <a:xfrm flipH="false" flipV="false" rot="0">
            <a:off x="1028700" y="2118172"/>
            <a:ext cx="16230600" cy="7709535"/>
          </a:xfrm>
          <a:custGeom>
            <a:avLst/>
            <a:gdLst/>
            <a:ahLst/>
            <a:cxnLst/>
            <a:rect r="r" b="b" t="t" l="l"/>
            <a:pathLst>
              <a:path h="7709535" w="16230600">
                <a:moveTo>
                  <a:pt x="0" y="0"/>
                </a:moveTo>
                <a:lnTo>
                  <a:pt x="16230600" y="0"/>
                </a:lnTo>
                <a:lnTo>
                  <a:pt x="16230600" y="7709535"/>
                </a:lnTo>
                <a:lnTo>
                  <a:pt x="0" y="7709535"/>
                </a:lnTo>
                <a:lnTo>
                  <a:pt x="0" y="0"/>
                </a:lnTo>
                <a:close/>
              </a:path>
            </a:pathLst>
          </a:custGeom>
          <a:blipFill>
            <a:blip r:embed="rId2"/>
            <a:stretch>
              <a:fillRect l="0" t="0" r="0" b="0"/>
            </a:stretch>
          </a:blipFill>
        </p:spPr>
      </p:sp>
      <p:sp>
        <p:nvSpPr>
          <p:cNvPr name="TextBox 4" id="4"/>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Freeform 3" id="3"/>
          <p:cNvSpPr/>
          <p:nvPr/>
        </p:nvSpPr>
        <p:spPr>
          <a:xfrm flipH="false" flipV="false" rot="0">
            <a:off x="1028700" y="2897978"/>
            <a:ext cx="9531946" cy="5466128"/>
          </a:xfrm>
          <a:custGeom>
            <a:avLst/>
            <a:gdLst/>
            <a:ahLst/>
            <a:cxnLst/>
            <a:rect r="r" b="b" t="t" l="l"/>
            <a:pathLst>
              <a:path h="5466128" w="9531946">
                <a:moveTo>
                  <a:pt x="0" y="0"/>
                </a:moveTo>
                <a:lnTo>
                  <a:pt x="9531946" y="0"/>
                </a:lnTo>
                <a:lnTo>
                  <a:pt x="9531946" y="5466128"/>
                </a:lnTo>
                <a:lnTo>
                  <a:pt x="0" y="5466128"/>
                </a:lnTo>
                <a:lnTo>
                  <a:pt x="0" y="0"/>
                </a:lnTo>
                <a:close/>
              </a:path>
            </a:pathLst>
          </a:custGeom>
          <a:blipFill>
            <a:blip r:embed="rId2"/>
            <a:stretch>
              <a:fillRect l="0" t="0" r="-10485" b="0"/>
            </a:stretch>
          </a:blipFill>
        </p:spPr>
      </p:sp>
      <p:sp>
        <p:nvSpPr>
          <p:cNvPr name="Freeform 4" id="4"/>
          <p:cNvSpPr/>
          <p:nvPr/>
        </p:nvSpPr>
        <p:spPr>
          <a:xfrm flipH="false" flipV="false" rot="0">
            <a:off x="10560646" y="2472592"/>
            <a:ext cx="7408867" cy="5891514"/>
          </a:xfrm>
          <a:custGeom>
            <a:avLst/>
            <a:gdLst/>
            <a:ahLst/>
            <a:cxnLst/>
            <a:rect r="r" b="b" t="t" l="l"/>
            <a:pathLst>
              <a:path h="5891514" w="7408867">
                <a:moveTo>
                  <a:pt x="0" y="0"/>
                </a:moveTo>
                <a:lnTo>
                  <a:pt x="7408868" y="0"/>
                </a:lnTo>
                <a:lnTo>
                  <a:pt x="7408868" y="5891514"/>
                </a:lnTo>
                <a:lnTo>
                  <a:pt x="0" y="5891514"/>
                </a:lnTo>
                <a:lnTo>
                  <a:pt x="0" y="0"/>
                </a:lnTo>
                <a:close/>
              </a:path>
            </a:pathLst>
          </a:custGeom>
          <a:blipFill>
            <a:blip r:embed="rId3"/>
            <a:stretch>
              <a:fillRect l="0" t="0" r="0" b="0"/>
            </a:stretch>
          </a:blipFill>
        </p:spPr>
      </p:sp>
      <p:sp>
        <p:nvSpPr>
          <p:cNvPr name="TextBox 5" id="5"/>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Freeform 3" id="3"/>
          <p:cNvSpPr/>
          <p:nvPr/>
        </p:nvSpPr>
        <p:spPr>
          <a:xfrm flipH="false" flipV="false" rot="0">
            <a:off x="1028700" y="2897978"/>
            <a:ext cx="9531946" cy="5466128"/>
          </a:xfrm>
          <a:custGeom>
            <a:avLst/>
            <a:gdLst/>
            <a:ahLst/>
            <a:cxnLst/>
            <a:rect r="r" b="b" t="t" l="l"/>
            <a:pathLst>
              <a:path h="5466128" w="9531946">
                <a:moveTo>
                  <a:pt x="0" y="0"/>
                </a:moveTo>
                <a:lnTo>
                  <a:pt x="9531946" y="0"/>
                </a:lnTo>
                <a:lnTo>
                  <a:pt x="9531946" y="5466128"/>
                </a:lnTo>
                <a:lnTo>
                  <a:pt x="0" y="5466128"/>
                </a:lnTo>
                <a:lnTo>
                  <a:pt x="0" y="0"/>
                </a:lnTo>
                <a:close/>
              </a:path>
            </a:pathLst>
          </a:custGeom>
          <a:blipFill>
            <a:blip r:embed="rId2"/>
            <a:stretch>
              <a:fillRect l="0" t="0" r="-10485" b="0"/>
            </a:stretch>
          </a:blipFill>
        </p:spPr>
      </p:sp>
      <p:sp>
        <p:nvSpPr>
          <p:cNvPr name="Freeform 4" id="4"/>
          <p:cNvSpPr/>
          <p:nvPr/>
        </p:nvSpPr>
        <p:spPr>
          <a:xfrm flipH="false" flipV="false" rot="0">
            <a:off x="10560646" y="2675538"/>
            <a:ext cx="7295754" cy="5911007"/>
          </a:xfrm>
          <a:custGeom>
            <a:avLst/>
            <a:gdLst/>
            <a:ahLst/>
            <a:cxnLst/>
            <a:rect r="r" b="b" t="t" l="l"/>
            <a:pathLst>
              <a:path h="5911007" w="7295754">
                <a:moveTo>
                  <a:pt x="0" y="0"/>
                </a:moveTo>
                <a:lnTo>
                  <a:pt x="7295754" y="0"/>
                </a:lnTo>
                <a:lnTo>
                  <a:pt x="7295754" y="5911007"/>
                </a:lnTo>
                <a:lnTo>
                  <a:pt x="0" y="5911007"/>
                </a:lnTo>
                <a:lnTo>
                  <a:pt x="0" y="0"/>
                </a:lnTo>
                <a:close/>
              </a:path>
            </a:pathLst>
          </a:custGeom>
          <a:blipFill>
            <a:blip r:embed="rId3"/>
            <a:stretch>
              <a:fillRect l="0" t="0" r="0" b="0"/>
            </a:stretch>
          </a:blipFill>
        </p:spPr>
      </p:sp>
      <p:sp>
        <p:nvSpPr>
          <p:cNvPr name="TextBox 5" id="5"/>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Freeform 3" id="3"/>
          <p:cNvSpPr/>
          <p:nvPr/>
        </p:nvSpPr>
        <p:spPr>
          <a:xfrm flipH="false" flipV="false" rot="0">
            <a:off x="6641553" y="1941528"/>
            <a:ext cx="10617747" cy="1247585"/>
          </a:xfrm>
          <a:custGeom>
            <a:avLst/>
            <a:gdLst/>
            <a:ahLst/>
            <a:cxnLst/>
            <a:rect r="r" b="b" t="t" l="l"/>
            <a:pathLst>
              <a:path h="1247585" w="10617747">
                <a:moveTo>
                  <a:pt x="0" y="0"/>
                </a:moveTo>
                <a:lnTo>
                  <a:pt x="10617747" y="0"/>
                </a:lnTo>
                <a:lnTo>
                  <a:pt x="10617747" y="1247585"/>
                </a:lnTo>
                <a:lnTo>
                  <a:pt x="0" y="1247585"/>
                </a:lnTo>
                <a:lnTo>
                  <a:pt x="0" y="0"/>
                </a:lnTo>
                <a:close/>
              </a:path>
            </a:pathLst>
          </a:custGeom>
          <a:blipFill>
            <a:blip r:embed="rId2"/>
            <a:stretch>
              <a:fillRect l="0" t="0" r="0" b="0"/>
            </a:stretch>
          </a:blipFill>
        </p:spPr>
      </p:sp>
      <p:sp>
        <p:nvSpPr>
          <p:cNvPr name="Freeform 4" id="4"/>
          <p:cNvSpPr/>
          <p:nvPr/>
        </p:nvSpPr>
        <p:spPr>
          <a:xfrm flipH="false" flipV="false" rot="0">
            <a:off x="2016544" y="4192053"/>
            <a:ext cx="14254913" cy="5666328"/>
          </a:xfrm>
          <a:custGeom>
            <a:avLst/>
            <a:gdLst/>
            <a:ahLst/>
            <a:cxnLst/>
            <a:rect r="r" b="b" t="t" l="l"/>
            <a:pathLst>
              <a:path h="5666328" w="14254913">
                <a:moveTo>
                  <a:pt x="0" y="0"/>
                </a:moveTo>
                <a:lnTo>
                  <a:pt x="14254912" y="0"/>
                </a:lnTo>
                <a:lnTo>
                  <a:pt x="14254912" y="5666328"/>
                </a:lnTo>
                <a:lnTo>
                  <a:pt x="0" y="5666328"/>
                </a:lnTo>
                <a:lnTo>
                  <a:pt x="0" y="0"/>
                </a:lnTo>
                <a:close/>
              </a:path>
            </a:pathLst>
          </a:custGeom>
          <a:blipFill>
            <a:blip r:embed="rId3"/>
            <a:stretch>
              <a:fillRect l="0" t="0" r="0" b="0"/>
            </a:stretch>
          </a:blipFill>
        </p:spPr>
      </p:sp>
      <p:sp>
        <p:nvSpPr>
          <p:cNvPr name="Freeform 5" id="5"/>
          <p:cNvSpPr/>
          <p:nvPr/>
        </p:nvSpPr>
        <p:spPr>
          <a:xfrm flipH="false" flipV="false" rot="0">
            <a:off x="1028700" y="1941528"/>
            <a:ext cx="5429609" cy="738336"/>
          </a:xfrm>
          <a:custGeom>
            <a:avLst/>
            <a:gdLst/>
            <a:ahLst/>
            <a:cxnLst/>
            <a:rect r="r" b="b" t="t" l="l"/>
            <a:pathLst>
              <a:path h="738336" w="5429609">
                <a:moveTo>
                  <a:pt x="0" y="0"/>
                </a:moveTo>
                <a:lnTo>
                  <a:pt x="5429609" y="0"/>
                </a:lnTo>
                <a:lnTo>
                  <a:pt x="5429609" y="738336"/>
                </a:lnTo>
                <a:lnTo>
                  <a:pt x="0" y="738336"/>
                </a:lnTo>
                <a:lnTo>
                  <a:pt x="0" y="0"/>
                </a:lnTo>
                <a:close/>
              </a:path>
            </a:pathLst>
          </a:custGeom>
          <a:blipFill>
            <a:blip r:embed="rId4"/>
            <a:stretch>
              <a:fillRect l="0" t="0" r="0" b="0"/>
            </a:stretch>
          </a:blipFill>
        </p:spPr>
      </p:sp>
      <p:sp>
        <p:nvSpPr>
          <p:cNvPr name="TextBox 6" id="6"/>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16</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028700" y="1646253"/>
            <a:ext cx="16230600" cy="0"/>
          </a:xfrm>
          <a:prstGeom prst="line">
            <a:avLst/>
          </a:prstGeom>
          <a:ln cap="flat" w="38100">
            <a:solidFill>
              <a:srgbClr val="E9480D"/>
            </a:solidFill>
            <a:prstDash val="solid"/>
            <a:headEnd type="none" len="sm" w="sm"/>
            <a:tailEnd type="none" len="sm" w="sm"/>
          </a:ln>
        </p:spPr>
      </p:sp>
      <p:sp>
        <p:nvSpPr>
          <p:cNvPr name="TextBox 3" id="3"/>
          <p:cNvSpPr txBox="true"/>
          <p:nvPr/>
        </p:nvSpPr>
        <p:spPr>
          <a:xfrm rot="0">
            <a:off x="1028700" y="675386"/>
            <a:ext cx="16230600" cy="678052"/>
          </a:xfrm>
          <a:prstGeom prst="rect">
            <a:avLst/>
          </a:prstGeom>
        </p:spPr>
        <p:txBody>
          <a:bodyPr anchor="t" rtlCol="false" tIns="0" lIns="0" bIns="0" rIns="0">
            <a:spAutoFit/>
          </a:bodyPr>
          <a:lstStyle/>
          <a:p>
            <a:pPr algn="ctr">
              <a:lnSpc>
                <a:spcPts val="4170"/>
              </a:lnSpc>
            </a:pPr>
            <a:r>
              <a:rPr lang="en-US" b="true" sz="4299">
                <a:solidFill>
                  <a:srgbClr val="242424"/>
                </a:solidFill>
                <a:latin typeface="Agrandir Bold"/>
                <a:ea typeface="Agrandir Bold"/>
                <a:cs typeface="Agrandir Bold"/>
                <a:sym typeface="Agrandir Bold"/>
              </a:rPr>
              <a:t>PHÂN TÍCH KẾT QUẢ</a:t>
            </a:r>
          </a:p>
        </p:txBody>
      </p:sp>
      <p:sp>
        <p:nvSpPr>
          <p:cNvPr name="TextBox 4" id="4"/>
          <p:cNvSpPr txBox="true"/>
          <p:nvPr/>
        </p:nvSpPr>
        <p:spPr>
          <a:xfrm rot="0">
            <a:off x="1028700" y="2188756"/>
            <a:ext cx="16230600" cy="5534025"/>
          </a:xfrm>
          <a:prstGeom prst="rect">
            <a:avLst/>
          </a:prstGeom>
        </p:spPr>
        <p:txBody>
          <a:bodyPr anchor="t" rtlCol="false" tIns="0" lIns="0" bIns="0" rIns="0">
            <a:spAutoFit/>
          </a:bodyPr>
          <a:lstStyle/>
          <a:p>
            <a:pPr algn="l">
              <a:lnSpc>
                <a:spcPts val="4800"/>
              </a:lnSpc>
            </a:pPr>
            <a:r>
              <a:rPr lang="en-US" sz="3000" b="true">
                <a:solidFill>
                  <a:srgbClr val="E9480D"/>
                </a:solidFill>
                <a:latin typeface="Agrandir Bold"/>
                <a:ea typeface="Agrandir Bold"/>
                <a:cs typeface="Agrandir Bold"/>
                <a:sym typeface="Agrandir Bold"/>
              </a:rPr>
              <a:t>Trường hợp xấu:</a:t>
            </a:r>
          </a:p>
          <a:p>
            <a:pPr algn="l" marL="647700" indent="-323850" lvl="1">
              <a:lnSpc>
                <a:spcPts val="4800"/>
              </a:lnSpc>
              <a:buFont typeface="Arial"/>
              <a:buChar char="•"/>
            </a:pPr>
            <a:r>
              <a:rPr lang="en-US" sz="3000">
                <a:solidFill>
                  <a:srgbClr val="000000"/>
                </a:solidFill>
                <a:latin typeface="Agrandir"/>
                <a:ea typeface="Agrandir"/>
                <a:cs typeface="Agrandir"/>
                <a:sym typeface="Agrandir"/>
              </a:rPr>
              <a:t>Đối với các khách hàng đã có lịch sử giao dịch trong quá khứ (xét trong 4 tháng gần đây nhất) - </a:t>
            </a:r>
            <a:r>
              <a:rPr lang="en-US" b="true" sz="3000">
                <a:solidFill>
                  <a:srgbClr val="000000"/>
                </a:solidFill>
                <a:latin typeface="Agrandir Bold"/>
                <a:ea typeface="Agrandir Bold"/>
                <a:cs typeface="Agrandir Bold"/>
                <a:sym typeface="Agrandir Bold"/>
              </a:rPr>
              <a:t>Warm-start user</a:t>
            </a:r>
            <a:r>
              <a:rPr lang="en-US" sz="3000">
                <a:solidFill>
                  <a:srgbClr val="000000"/>
                </a:solidFill>
                <a:latin typeface="Agrandir"/>
                <a:ea typeface="Agrandir"/>
                <a:cs typeface="Agrandir"/>
                <a:sym typeface="Agrandir"/>
              </a:rPr>
              <a:t>:</a:t>
            </a:r>
          </a:p>
          <a:p>
            <a:pPr algn="l" marL="1295400" indent="-431800" lvl="2">
              <a:lnSpc>
                <a:spcPts val="4800"/>
              </a:lnSpc>
              <a:buFont typeface="Arial"/>
              <a:buChar char="⚬"/>
            </a:pPr>
            <a:r>
              <a:rPr lang="en-US" sz="3000">
                <a:solidFill>
                  <a:srgbClr val="000000"/>
                </a:solidFill>
                <a:latin typeface="Agrandir"/>
                <a:ea typeface="Agrandir"/>
                <a:cs typeface="Agrandir"/>
                <a:sym typeface="Agrandir"/>
              </a:rPr>
              <a:t>Những khách hàng có lịch sử giao dịch khá đa dạng về category, trong đó sẽ có một vài category bị bias sẽ khiến cho mô hình sinh candidates chủ yếu các sản phẩm thuộc category này. Khiến cho việc dự đoán sẽ không hiệu quả.</a:t>
            </a:r>
          </a:p>
          <a:p>
            <a:pPr algn="l" marL="647700" indent="-323850" lvl="1">
              <a:lnSpc>
                <a:spcPts val="4800"/>
              </a:lnSpc>
              <a:buFont typeface="Arial"/>
              <a:buChar char="•"/>
            </a:pPr>
            <a:r>
              <a:rPr lang="en-US" sz="3000">
                <a:solidFill>
                  <a:srgbClr val="000000"/>
                </a:solidFill>
                <a:latin typeface="Agrandir"/>
                <a:ea typeface="Agrandir"/>
                <a:cs typeface="Agrandir"/>
                <a:sym typeface="Agrandir"/>
              </a:rPr>
              <a:t>Đối với các khách hàng chưa từng có lịch sử giao dịch trong quá khứ (xét trong 4 tháng gần đây nhất) - </a:t>
            </a:r>
            <a:r>
              <a:rPr lang="en-US" b="true" sz="3000">
                <a:solidFill>
                  <a:srgbClr val="000000"/>
                </a:solidFill>
                <a:latin typeface="Agrandir Bold"/>
                <a:ea typeface="Agrandir Bold"/>
                <a:cs typeface="Agrandir Bold"/>
                <a:sym typeface="Agrandir Bold"/>
              </a:rPr>
              <a:t>Cold-start user</a:t>
            </a:r>
            <a:r>
              <a:rPr lang="en-US" sz="3000">
                <a:solidFill>
                  <a:srgbClr val="000000"/>
                </a:solidFill>
                <a:latin typeface="Agrandir"/>
                <a:ea typeface="Agrandir"/>
                <a:cs typeface="Agrandir"/>
                <a:sym typeface="Agrandir"/>
              </a:rPr>
              <a:t>:</a:t>
            </a:r>
          </a:p>
          <a:p>
            <a:pPr algn="l" marL="1295400" indent="-431800" lvl="2">
              <a:lnSpc>
                <a:spcPts val="4800"/>
              </a:lnSpc>
              <a:buFont typeface="Arial"/>
              <a:buChar char="⚬"/>
            </a:pPr>
            <a:r>
              <a:rPr lang="en-US" sz="3000">
                <a:solidFill>
                  <a:srgbClr val="000000"/>
                </a:solidFill>
                <a:latin typeface="Agrandir"/>
                <a:ea typeface="Agrandir"/>
                <a:cs typeface="Agrandir"/>
                <a:sym typeface="Agrandir"/>
              </a:rPr>
              <a:t>Các khách hàng thường chỉ mua 1 đến 2 sản phẩm thì sẽ rất khó để </a:t>
            </a: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6994" y="-3259468"/>
            <a:ext cx="10474737" cy="14625104"/>
          </a:xfrm>
          <a:custGeom>
            <a:avLst/>
            <a:gdLst/>
            <a:ahLst/>
            <a:cxnLst/>
            <a:rect r="r" b="b" t="t" l="l"/>
            <a:pathLst>
              <a:path h="14625104" w="10474737">
                <a:moveTo>
                  <a:pt x="0" y="0"/>
                </a:moveTo>
                <a:lnTo>
                  <a:pt x="10474737" y="0"/>
                </a:lnTo>
                <a:lnTo>
                  <a:pt x="10474737" y="14625104"/>
                </a:lnTo>
                <a:lnTo>
                  <a:pt x="0" y="146251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230686" y="2403896"/>
            <a:ext cx="9826629" cy="2919959"/>
          </a:xfrm>
          <a:prstGeom prst="rect">
            <a:avLst/>
          </a:prstGeom>
        </p:spPr>
        <p:txBody>
          <a:bodyPr anchor="t" rtlCol="false" tIns="0" lIns="0" bIns="0" rIns="0">
            <a:spAutoFit/>
          </a:bodyPr>
          <a:lstStyle/>
          <a:p>
            <a:pPr algn="ctr">
              <a:lnSpc>
                <a:spcPts val="20538"/>
              </a:lnSpc>
            </a:pPr>
            <a:r>
              <a:rPr lang="en-US" b="true" sz="14670">
                <a:solidFill>
                  <a:srgbClr val="242424"/>
                </a:solidFill>
                <a:latin typeface="Agrandir Grand Heavy"/>
                <a:ea typeface="Agrandir Grand Heavy"/>
                <a:cs typeface="Agrandir Grand Heavy"/>
                <a:sym typeface="Agrandir Grand Heavy"/>
              </a:rPr>
              <a:t>THANK</a:t>
            </a:r>
          </a:p>
        </p:txBody>
      </p:sp>
      <p:sp>
        <p:nvSpPr>
          <p:cNvPr name="TextBox 4" id="4"/>
          <p:cNvSpPr txBox="true"/>
          <p:nvPr/>
        </p:nvSpPr>
        <p:spPr>
          <a:xfrm rot="-273479">
            <a:off x="5636278" y="3857182"/>
            <a:ext cx="7012091" cy="2891283"/>
          </a:xfrm>
          <a:prstGeom prst="rect">
            <a:avLst/>
          </a:prstGeom>
        </p:spPr>
        <p:txBody>
          <a:bodyPr anchor="t" rtlCol="false" tIns="0" lIns="0" bIns="0" rIns="0">
            <a:spAutoFit/>
          </a:bodyPr>
          <a:lstStyle/>
          <a:p>
            <a:pPr algn="ctr">
              <a:lnSpc>
                <a:spcPts val="23337"/>
              </a:lnSpc>
            </a:pPr>
            <a:r>
              <a:rPr lang="en-US" sz="16669">
                <a:solidFill>
                  <a:srgbClr val="E9480D"/>
                </a:solidFill>
                <a:latin typeface="Palm Club"/>
                <a:ea typeface="Palm Club"/>
                <a:cs typeface="Palm Club"/>
                <a:sym typeface="Palm Club"/>
              </a:rPr>
              <a:t>You!</a:t>
            </a:r>
          </a:p>
        </p:txBody>
      </p:sp>
      <p:grpSp>
        <p:nvGrpSpPr>
          <p:cNvPr name="Group 5" id="5"/>
          <p:cNvGrpSpPr/>
          <p:nvPr/>
        </p:nvGrpSpPr>
        <p:grpSpPr>
          <a:xfrm rot="0">
            <a:off x="6812437" y="1527092"/>
            <a:ext cx="4663126" cy="587121"/>
            <a:chOff x="0" y="0"/>
            <a:chExt cx="1228148" cy="154633"/>
          </a:xfrm>
        </p:grpSpPr>
        <p:sp>
          <p:nvSpPr>
            <p:cNvPr name="Freeform 6" id="6"/>
            <p:cNvSpPr/>
            <p:nvPr/>
          </p:nvSpPr>
          <p:spPr>
            <a:xfrm flipH="false" flipV="false" rot="0">
              <a:off x="0" y="0"/>
              <a:ext cx="1228148" cy="154633"/>
            </a:xfrm>
            <a:custGeom>
              <a:avLst/>
              <a:gdLst/>
              <a:ahLst/>
              <a:cxnLst/>
              <a:rect r="r" b="b" t="t" l="l"/>
              <a:pathLst>
                <a:path h="154633" w="1228148">
                  <a:moveTo>
                    <a:pt x="77316" y="0"/>
                  </a:moveTo>
                  <a:lnTo>
                    <a:pt x="1150832" y="0"/>
                  </a:lnTo>
                  <a:cubicBezTo>
                    <a:pt x="1193533" y="0"/>
                    <a:pt x="1228148" y="34616"/>
                    <a:pt x="1228148" y="77316"/>
                  </a:cubicBezTo>
                  <a:lnTo>
                    <a:pt x="1228148" y="77316"/>
                  </a:lnTo>
                  <a:cubicBezTo>
                    <a:pt x="1228148" y="120017"/>
                    <a:pt x="1193533" y="154633"/>
                    <a:pt x="1150832" y="154633"/>
                  </a:cubicBezTo>
                  <a:lnTo>
                    <a:pt x="77316" y="154633"/>
                  </a:lnTo>
                  <a:cubicBezTo>
                    <a:pt x="34616" y="154633"/>
                    <a:pt x="0" y="120017"/>
                    <a:pt x="0" y="77316"/>
                  </a:cubicBezTo>
                  <a:lnTo>
                    <a:pt x="0" y="77316"/>
                  </a:lnTo>
                  <a:cubicBezTo>
                    <a:pt x="0" y="34616"/>
                    <a:pt x="34616" y="0"/>
                    <a:pt x="77316" y="0"/>
                  </a:cubicBezTo>
                  <a:close/>
                </a:path>
              </a:pathLst>
            </a:custGeom>
            <a:solidFill>
              <a:srgbClr val="000000">
                <a:alpha val="0"/>
              </a:srgbClr>
            </a:solidFill>
            <a:ln w="19050" cap="rnd">
              <a:solidFill>
                <a:srgbClr val="E9480D"/>
              </a:solidFill>
              <a:prstDash val="solid"/>
              <a:round/>
            </a:ln>
          </p:spPr>
        </p:sp>
        <p:sp>
          <p:nvSpPr>
            <p:cNvPr name="TextBox 7" id="7"/>
            <p:cNvSpPr txBox="true"/>
            <p:nvPr/>
          </p:nvSpPr>
          <p:spPr>
            <a:xfrm>
              <a:off x="0" y="-85725"/>
              <a:ext cx="1228148" cy="240358"/>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7349237" y="1575137"/>
            <a:ext cx="3589526" cy="395781"/>
          </a:xfrm>
          <a:prstGeom prst="rect">
            <a:avLst/>
          </a:prstGeom>
        </p:spPr>
        <p:txBody>
          <a:bodyPr anchor="t" rtlCol="false" tIns="0" lIns="0" bIns="0" rIns="0">
            <a:spAutoFit/>
          </a:bodyPr>
          <a:lstStyle/>
          <a:p>
            <a:pPr algn="ctr">
              <a:lnSpc>
                <a:spcPts val="2784"/>
              </a:lnSpc>
            </a:pPr>
            <a:r>
              <a:rPr lang="en-US" sz="1989">
                <a:solidFill>
                  <a:srgbClr val="E9480D"/>
                </a:solidFill>
                <a:latin typeface="Agrandir"/>
                <a:ea typeface="Agrandir"/>
                <a:cs typeface="Agrandir"/>
                <a:sym typeface="Agrandir"/>
              </a:rPr>
              <a:t>Báo Cáo Cuối Kỳ</a:t>
            </a:r>
          </a:p>
        </p:txBody>
      </p:sp>
      <p:sp>
        <p:nvSpPr>
          <p:cNvPr name="Freeform 9" id="9"/>
          <p:cNvSpPr/>
          <p:nvPr/>
        </p:nvSpPr>
        <p:spPr>
          <a:xfrm flipH="false" flipV="false" rot="0">
            <a:off x="10938763" y="1660314"/>
            <a:ext cx="320676" cy="320676"/>
          </a:xfrm>
          <a:custGeom>
            <a:avLst/>
            <a:gdLst/>
            <a:ahLst/>
            <a:cxnLst/>
            <a:rect r="r" b="b" t="t" l="l"/>
            <a:pathLst>
              <a:path h="320676" w="320676">
                <a:moveTo>
                  <a:pt x="0" y="0"/>
                </a:moveTo>
                <a:lnTo>
                  <a:pt x="320676" y="0"/>
                </a:lnTo>
                <a:lnTo>
                  <a:pt x="320676" y="320676"/>
                </a:lnTo>
                <a:lnTo>
                  <a:pt x="0" y="3206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7028561" y="1660314"/>
            <a:ext cx="320676" cy="320676"/>
          </a:xfrm>
          <a:custGeom>
            <a:avLst/>
            <a:gdLst/>
            <a:ahLst/>
            <a:cxnLst/>
            <a:rect r="r" b="b" t="t" l="l"/>
            <a:pathLst>
              <a:path h="320676" w="320676">
                <a:moveTo>
                  <a:pt x="0" y="0"/>
                </a:moveTo>
                <a:lnTo>
                  <a:pt x="320676" y="0"/>
                </a:lnTo>
                <a:lnTo>
                  <a:pt x="320676" y="320676"/>
                </a:lnTo>
                <a:lnTo>
                  <a:pt x="0" y="3206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7535448" y="1055618"/>
            <a:ext cx="3217104" cy="328295"/>
          </a:xfrm>
          <a:prstGeom prst="rect">
            <a:avLst/>
          </a:prstGeom>
        </p:spPr>
        <p:txBody>
          <a:bodyPr anchor="t" rtlCol="false" tIns="0" lIns="0" bIns="0" rIns="0">
            <a:spAutoFit/>
          </a:bodyPr>
          <a:lstStyle/>
          <a:p>
            <a:pPr algn="ctr">
              <a:lnSpc>
                <a:spcPts val="2379"/>
              </a:lnSpc>
            </a:pPr>
            <a:r>
              <a:rPr lang="en-US" sz="1699">
                <a:solidFill>
                  <a:srgbClr val="000000"/>
                </a:solidFill>
                <a:latin typeface="Agrandir"/>
                <a:ea typeface="Agrandir"/>
                <a:cs typeface="Agrandir"/>
                <a:sym typeface="Agrandir"/>
              </a:rPr>
              <a:t>CS116.Q11</a:t>
            </a: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DAG8O_djaFg</dc:identifier>
  <dcterms:modified xsi:type="dcterms:W3CDTF">2011-08-01T06:04:30Z</dcterms:modified>
  <cp:revision>1</cp:revision>
  <dc:title>CS116 - Group 4</dc:title>
</cp:coreProperties>
</file>